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78" r:id="rId4"/>
    <p:sldId id="270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002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0394"/>
    <p:restoredTop sz="94471"/>
  </p:normalViewPr>
  <p:slideViewPr>
    <p:cSldViewPr showGuides="1">
      <p:cViewPr varScale="1">
        <p:scale>
          <a:sx n="84" d="100"/>
          <a:sy n="84" d="100"/>
        </p:scale>
        <p:origin x="-137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6" name="Group 3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79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67" name="Group 5"/>
              <p:cNvGrpSpPr/>
              <p:nvPr userDrawn="1"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2069" name="Line 6"/>
                <p:cNvSpPr/>
                <p:nvPr/>
              </p:nvSpPr>
              <p:spPr>
                <a:xfrm>
                  <a:off x="0" y="19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0" name="Line 7"/>
                <p:cNvSpPr/>
                <p:nvPr/>
              </p:nvSpPr>
              <p:spPr>
                <a:xfrm>
                  <a:off x="0" y="38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1" name="Line 8"/>
                <p:cNvSpPr/>
                <p:nvPr/>
              </p:nvSpPr>
              <p:spPr>
                <a:xfrm>
                  <a:off x="0" y="57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2" name="Line 9"/>
                <p:cNvSpPr/>
                <p:nvPr/>
              </p:nvSpPr>
              <p:spPr>
                <a:xfrm>
                  <a:off x="0" y="76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3" name="Line 10"/>
                <p:cNvSpPr/>
                <p:nvPr/>
              </p:nvSpPr>
              <p:spPr>
                <a:xfrm>
                  <a:off x="0" y="96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4" name="Line 11"/>
                <p:cNvSpPr/>
                <p:nvPr/>
              </p:nvSpPr>
              <p:spPr>
                <a:xfrm>
                  <a:off x="0" y="115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5" name="Line 12"/>
                <p:cNvSpPr/>
                <p:nvPr/>
              </p:nvSpPr>
              <p:spPr>
                <a:xfrm>
                  <a:off x="0" y="134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6" name="Line 13"/>
                <p:cNvSpPr/>
                <p:nvPr/>
              </p:nvSpPr>
              <p:spPr>
                <a:xfrm>
                  <a:off x="0" y="153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7" name="Line 14"/>
                <p:cNvSpPr/>
                <p:nvPr/>
              </p:nvSpPr>
              <p:spPr>
                <a:xfrm>
                  <a:off x="0" y="172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8" name="Line 15"/>
                <p:cNvSpPr/>
                <p:nvPr/>
              </p:nvSpPr>
              <p:spPr>
                <a:xfrm>
                  <a:off x="0" y="192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79" name="Line 16"/>
                <p:cNvSpPr/>
                <p:nvPr/>
              </p:nvSpPr>
              <p:spPr>
                <a:xfrm>
                  <a:off x="0" y="211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0" name="Line 17"/>
                <p:cNvSpPr/>
                <p:nvPr/>
              </p:nvSpPr>
              <p:spPr>
                <a:xfrm>
                  <a:off x="0" y="230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1" name="Line 18"/>
                <p:cNvSpPr/>
                <p:nvPr/>
              </p:nvSpPr>
              <p:spPr>
                <a:xfrm>
                  <a:off x="0" y="249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2" name="Line 19"/>
                <p:cNvSpPr/>
                <p:nvPr/>
              </p:nvSpPr>
              <p:spPr>
                <a:xfrm>
                  <a:off x="0" y="268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3" name="Line 20"/>
                <p:cNvSpPr/>
                <p:nvPr/>
              </p:nvSpPr>
              <p:spPr>
                <a:xfrm>
                  <a:off x="0" y="288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4" name="Line 21"/>
                <p:cNvSpPr/>
                <p:nvPr/>
              </p:nvSpPr>
              <p:spPr>
                <a:xfrm>
                  <a:off x="0" y="307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5" name="Line 22"/>
                <p:cNvSpPr/>
                <p:nvPr/>
              </p:nvSpPr>
              <p:spPr>
                <a:xfrm>
                  <a:off x="0" y="326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6" name="Line 23"/>
                <p:cNvSpPr/>
                <p:nvPr/>
              </p:nvSpPr>
              <p:spPr>
                <a:xfrm>
                  <a:off x="0" y="345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7" name="Line 24"/>
                <p:cNvSpPr/>
                <p:nvPr/>
              </p:nvSpPr>
              <p:spPr>
                <a:xfrm>
                  <a:off x="0" y="364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8" name="Line 25"/>
                <p:cNvSpPr/>
                <p:nvPr/>
              </p:nvSpPr>
              <p:spPr>
                <a:xfrm>
                  <a:off x="0" y="384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89" name="Line 26"/>
                <p:cNvSpPr/>
                <p:nvPr/>
              </p:nvSpPr>
              <p:spPr>
                <a:xfrm>
                  <a:off x="0" y="403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0" name="Line 27"/>
                <p:cNvSpPr/>
                <p:nvPr/>
              </p:nvSpPr>
              <p:spPr>
                <a:xfrm>
                  <a:off x="0" y="422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1" name="Line 28"/>
                <p:cNvSpPr/>
                <p:nvPr/>
              </p:nvSpPr>
              <p:spPr>
                <a:xfrm>
                  <a:off x="1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2" name="Line 29"/>
                <p:cNvSpPr/>
                <p:nvPr/>
              </p:nvSpPr>
              <p:spPr>
                <a:xfrm>
                  <a:off x="3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3" name="Line 30"/>
                <p:cNvSpPr/>
                <p:nvPr/>
              </p:nvSpPr>
              <p:spPr>
                <a:xfrm>
                  <a:off x="5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4" name="Line 31"/>
                <p:cNvSpPr/>
                <p:nvPr/>
              </p:nvSpPr>
              <p:spPr>
                <a:xfrm>
                  <a:off x="7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5" name="Line 32"/>
                <p:cNvSpPr/>
                <p:nvPr/>
              </p:nvSpPr>
              <p:spPr>
                <a:xfrm>
                  <a:off x="96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6" name="Line 33"/>
                <p:cNvSpPr/>
                <p:nvPr/>
              </p:nvSpPr>
              <p:spPr>
                <a:xfrm>
                  <a:off x="115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7" name="Line 34"/>
                <p:cNvSpPr/>
                <p:nvPr/>
              </p:nvSpPr>
              <p:spPr>
                <a:xfrm>
                  <a:off x="134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8" name="Line 35"/>
                <p:cNvSpPr/>
                <p:nvPr/>
              </p:nvSpPr>
              <p:spPr>
                <a:xfrm>
                  <a:off x="153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099" name="Line 36"/>
                <p:cNvSpPr/>
                <p:nvPr/>
              </p:nvSpPr>
              <p:spPr>
                <a:xfrm>
                  <a:off x="172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0" name="Line 37"/>
                <p:cNvSpPr/>
                <p:nvPr/>
              </p:nvSpPr>
              <p:spPr>
                <a:xfrm>
                  <a:off x="192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1" name="Line 38"/>
                <p:cNvSpPr/>
                <p:nvPr/>
              </p:nvSpPr>
              <p:spPr>
                <a:xfrm>
                  <a:off x="211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2" name="Line 39"/>
                <p:cNvSpPr/>
                <p:nvPr/>
              </p:nvSpPr>
              <p:spPr>
                <a:xfrm>
                  <a:off x="230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3" name="Line 40"/>
                <p:cNvSpPr/>
                <p:nvPr/>
              </p:nvSpPr>
              <p:spPr>
                <a:xfrm>
                  <a:off x="249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4" name="Line 41"/>
                <p:cNvSpPr/>
                <p:nvPr/>
              </p:nvSpPr>
              <p:spPr>
                <a:xfrm>
                  <a:off x="268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5" name="Line 42"/>
                <p:cNvSpPr/>
                <p:nvPr/>
              </p:nvSpPr>
              <p:spPr>
                <a:xfrm>
                  <a:off x="288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6" name="Line 43"/>
                <p:cNvSpPr/>
                <p:nvPr/>
              </p:nvSpPr>
              <p:spPr>
                <a:xfrm>
                  <a:off x="307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7" name="Line 44"/>
                <p:cNvSpPr/>
                <p:nvPr/>
              </p:nvSpPr>
              <p:spPr>
                <a:xfrm>
                  <a:off x="326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8" name="Line 45"/>
                <p:cNvSpPr/>
                <p:nvPr/>
              </p:nvSpPr>
              <p:spPr>
                <a:xfrm>
                  <a:off x="345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09" name="Line 46"/>
                <p:cNvSpPr/>
                <p:nvPr/>
              </p:nvSpPr>
              <p:spPr>
                <a:xfrm>
                  <a:off x="364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0" name="Line 47"/>
                <p:cNvSpPr/>
                <p:nvPr/>
              </p:nvSpPr>
              <p:spPr>
                <a:xfrm>
                  <a:off x="384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1" name="Line 48"/>
                <p:cNvSpPr/>
                <p:nvPr/>
              </p:nvSpPr>
              <p:spPr>
                <a:xfrm>
                  <a:off x="403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2" name="Line 49"/>
                <p:cNvSpPr/>
                <p:nvPr/>
              </p:nvSpPr>
              <p:spPr>
                <a:xfrm>
                  <a:off x="422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3" name="Line 50"/>
                <p:cNvSpPr/>
                <p:nvPr/>
              </p:nvSpPr>
              <p:spPr>
                <a:xfrm>
                  <a:off x="441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4" name="Line 51"/>
                <p:cNvSpPr/>
                <p:nvPr/>
              </p:nvSpPr>
              <p:spPr>
                <a:xfrm>
                  <a:off x="460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5" name="Line 52"/>
                <p:cNvSpPr/>
                <p:nvPr/>
              </p:nvSpPr>
              <p:spPr>
                <a:xfrm>
                  <a:off x="480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6" name="Line 53"/>
                <p:cNvSpPr/>
                <p:nvPr/>
              </p:nvSpPr>
              <p:spPr>
                <a:xfrm>
                  <a:off x="49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7" name="Line 54"/>
                <p:cNvSpPr/>
                <p:nvPr/>
              </p:nvSpPr>
              <p:spPr>
                <a:xfrm>
                  <a:off x="51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8" name="Line 55"/>
                <p:cNvSpPr/>
                <p:nvPr/>
              </p:nvSpPr>
              <p:spPr>
                <a:xfrm>
                  <a:off x="53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19" name="Line 56"/>
                <p:cNvSpPr/>
                <p:nvPr/>
              </p:nvSpPr>
              <p:spPr>
                <a:xfrm>
                  <a:off x="55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1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7" name="Group 58"/>
            <p:cNvGrpSpPr/>
            <p:nvPr userDrawn="1"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75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Arc 62"/>
              <p:cNvSpPr/>
              <p:nvPr/>
            </p:nvSpPr>
            <p:spPr bwMode="ltGray">
              <a:xfrm rot="16200000" flipH="1">
                <a:off x="426" y="861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8" name="Group 63"/>
            <p:cNvGrpSpPr/>
            <p:nvPr userDrawn="1"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72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Arc 66"/>
              <p:cNvSpPr/>
              <p:nvPr/>
            </p:nvSpPr>
            <p:spPr bwMode="ltGray">
              <a:xfrm rot="5400000">
                <a:off x="5097" y="3348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7235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236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3" name="Rectangle 69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p>
            <a:pPr algn="r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102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1027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102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1029"/>
                <p:cNvSpPr/>
                <p:nvPr/>
              </p:nvSpPr>
              <p:spPr>
                <a:xfrm>
                  <a:off x="0" y="19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1" name="Line 1030"/>
                <p:cNvSpPr/>
                <p:nvPr/>
              </p:nvSpPr>
              <p:spPr>
                <a:xfrm>
                  <a:off x="0" y="38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2" name="Line 1031"/>
                <p:cNvSpPr/>
                <p:nvPr/>
              </p:nvSpPr>
              <p:spPr>
                <a:xfrm>
                  <a:off x="0" y="57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3" name="Line 1032"/>
                <p:cNvSpPr/>
                <p:nvPr/>
              </p:nvSpPr>
              <p:spPr>
                <a:xfrm>
                  <a:off x="0" y="76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4" name="Line 1033"/>
                <p:cNvSpPr/>
                <p:nvPr/>
              </p:nvSpPr>
              <p:spPr>
                <a:xfrm>
                  <a:off x="0" y="96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5" name="Line 1034"/>
                <p:cNvSpPr/>
                <p:nvPr/>
              </p:nvSpPr>
              <p:spPr>
                <a:xfrm>
                  <a:off x="0" y="115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6" name="Line 1035"/>
                <p:cNvSpPr/>
                <p:nvPr/>
              </p:nvSpPr>
              <p:spPr>
                <a:xfrm>
                  <a:off x="0" y="134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7" name="Line 1036"/>
                <p:cNvSpPr/>
                <p:nvPr/>
              </p:nvSpPr>
              <p:spPr>
                <a:xfrm>
                  <a:off x="0" y="153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8" name="Line 1037"/>
                <p:cNvSpPr/>
                <p:nvPr/>
              </p:nvSpPr>
              <p:spPr>
                <a:xfrm>
                  <a:off x="0" y="172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79" name="Line 1038"/>
                <p:cNvSpPr/>
                <p:nvPr/>
              </p:nvSpPr>
              <p:spPr>
                <a:xfrm>
                  <a:off x="0" y="192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0" name="Line 1039"/>
                <p:cNvSpPr/>
                <p:nvPr/>
              </p:nvSpPr>
              <p:spPr>
                <a:xfrm>
                  <a:off x="0" y="211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1" name="Line 1040"/>
                <p:cNvSpPr/>
                <p:nvPr/>
              </p:nvSpPr>
              <p:spPr>
                <a:xfrm>
                  <a:off x="0" y="230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2" name="Line 1041"/>
                <p:cNvSpPr/>
                <p:nvPr/>
              </p:nvSpPr>
              <p:spPr>
                <a:xfrm>
                  <a:off x="0" y="249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3" name="Line 1042"/>
                <p:cNvSpPr/>
                <p:nvPr/>
              </p:nvSpPr>
              <p:spPr>
                <a:xfrm>
                  <a:off x="0" y="268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4" name="Line 1043"/>
                <p:cNvSpPr/>
                <p:nvPr/>
              </p:nvSpPr>
              <p:spPr>
                <a:xfrm>
                  <a:off x="0" y="288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5" name="Line 1044"/>
                <p:cNvSpPr/>
                <p:nvPr/>
              </p:nvSpPr>
              <p:spPr>
                <a:xfrm>
                  <a:off x="0" y="307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6" name="Line 1045"/>
                <p:cNvSpPr/>
                <p:nvPr/>
              </p:nvSpPr>
              <p:spPr>
                <a:xfrm>
                  <a:off x="0" y="326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7" name="Line 1046"/>
                <p:cNvSpPr/>
                <p:nvPr/>
              </p:nvSpPr>
              <p:spPr>
                <a:xfrm>
                  <a:off x="0" y="3456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8" name="Line 1047"/>
                <p:cNvSpPr/>
                <p:nvPr/>
              </p:nvSpPr>
              <p:spPr>
                <a:xfrm>
                  <a:off x="0" y="3648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89" name="Line 1048"/>
                <p:cNvSpPr/>
                <p:nvPr/>
              </p:nvSpPr>
              <p:spPr>
                <a:xfrm>
                  <a:off x="0" y="3840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90" name="Line 1049"/>
                <p:cNvSpPr/>
                <p:nvPr/>
              </p:nvSpPr>
              <p:spPr>
                <a:xfrm>
                  <a:off x="0" y="4032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91" name="Line 1050"/>
                <p:cNvSpPr/>
                <p:nvPr/>
              </p:nvSpPr>
              <p:spPr>
                <a:xfrm>
                  <a:off x="0" y="4224"/>
                  <a:ext cx="5760" cy="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040" name="Group 1051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1052"/>
                <p:cNvSpPr/>
                <p:nvPr/>
              </p:nvSpPr>
              <p:spPr>
                <a:xfrm>
                  <a:off x="1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2" name="Line 1053"/>
                <p:cNvSpPr/>
                <p:nvPr/>
              </p:nvSpPr>
              <p:spPr>
                <a:xfrm>
                  <a:off x="3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3" name="Line 1054"/>
                <p:cNvSpPr/>
                <p:nvPr/>
              </p:nvSpPr>
              <p:spPr>
                <a:xfrm>
                  <a:off x="5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4" name="Line 1055"/>
                <p:cNvSpPr/>
                <p:nvPr/>
              </p:nvSpPr>
              <p:spPr>
                <a:xfrm>
                  <a:off x="7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5" name="Line 1056"/>
                <p:cNvSpPr/>
                <p:nvPr/>
              </p:nvSpPr>
              <p:spPr>
                <a:xfrm>
                  <a:off x="96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6" name="Line 1057"/>
                <p:cNvSpPr/>
                <p:nvPr/>
              </p:nvSpPr>
              <p:spPr>
                <a:xfrm>
                  <a:off x="115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7" name="Line 1058"/>
                <p:cNvSpPr/>
                <p:nvPr/>
              </p:nvSpPr>
              <p:spPr>
                <a:xfrm>
                  <a:off x="134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8" name="Line 1059"/>
                <p:cNvSpPr/>
                <p:nvPr/>
              </p:nvSpPr>
              <p:spPr>
                <a:xfrm>
                  <a:off x="153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49" name="Line 1060"/>
                <p:cNvSpPr/>
                <p:nvPr/>
              </p:nvSpPr>
              <p:spPr>
                <a:xfrm>
                  <a:off x="172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0" name="Line 1061"/>
                <p:cNvSpPr/>
                <p:nvPr/>
              </p:nvSpPr>
              <p:spPr>
                <a:xfrm>
                  <a:off x="192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1" name="Line 1062"/>
                <p:cNvSpPr/>
                <p:nvPr/>
              </p:nvSpPr>
              <p:spPr>
                <a:xfrm>
                  <a:off x="211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2" name="Line 1063"/>
                <p:cNvSpPr/>
                <p:nvPr/>
              </p:nvSpPr>
              <p:spPr>
                <a:xfrm>
                  <a:off x="230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3" name="Line 1064"/>
                <p:cNvSpPr/>
                <p:nvPr/>
              </p:nvSpPr>
              <p:spPr>
                <a:xfrm>
                  <a:off x="249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4" name="Line 1065"/>
                <p:cNvSpPr/>
                <p:nvPr/>
              </p:nvSpPr>
              <p:spPr>
                <a:xfrm>
                  <a:off x="268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5" name="Line 1066"/>
                <p:cNvSpPr/>
                <p:nvPr/>
              </p:nvSpPr>
              <p:spPr>
                <a:xfrm>
                  <a:off x="288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6" name="Line 1067"/>
                <p:cNvSpPr/>
                <p:nvPr/>
              </p:nvSpPr>
              <p:spPr>
                <a:xfrm>
                  <a:off x="307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7" name="Line 1068"/>
                <p:cNvSpPr/>
                <p:nvPr/>
              </p:nvSpPr>
              <p:spPr>
                <a:xfrm>
                  <a:off x="326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8" name="Line 1069"/>
                <p:cNvSpPr/>
                <p:nvPr/>
              </p:nvSpPr>
              <p:spPr>
                <a:xfrm>
                  <a:off x="345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59" name="Line 1070"/>
                <p:cNvSpPr/>
                <p:nvPr/>
              </p:nvSpPr>
              <p:spPr>
                <a:xfrm>
                  <a:off x="364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0" name="Line 1071"/>
                <p:cNvSpPr/>
                <p:nvPr/>
              </p:nvSpPr>
              <p:spPr>
                <a:xfrm>
                  <a:off x="384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1" name="Line 1072"/>
                <p:cNvSpPr/>
                <p:nvPr/>
              </p:nvSpPr>
              <p:spPr>
                <a:xfrm>
                  <a:off x="403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2" name="Line 1073"/>
                <p:cNvSpPr/>
                <p:nvPr/>
              </p:nvSpPr>
              <p:spPr>
                <a:xfrm>
                  <a:off x="422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3" name="Line 1074"/>
                <p:cNvSpPr/>
                <p:nvPr/>
              </p:nvSpPr>
              <p:spPr>
                <a:xfrm>
                  <a:off x="441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4" name="Line 1075"/>
                <p:cNvSpPr/>
                <p:nvPr/>
              </p:nvSpPr>
              <p:spPr>
                <a:xfrm>
                  <a:off x="460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5" name="Line 1076"/>
                <p:cNvSpPr/>
                <p:nvPr/>
              </p:nvSpPr>
              <p:spPr>
                <a:xfrm>
                  <a:off x="4800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6" name="Line 1077"/>
                <p:cNvSpPr/>
                <p:nvPr/>
              </p:nvSpPr>
              <p:spPr>
                <a:xfrm>
                  <a:off x="4992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7" name="Line 1078"/>
                <p:cNvSpPr/>
                <p:nvPr/>
              </p:nvSpPr>
              <p:spPr>
                <a:xfrm>
                  <a:off x="5184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8" name="Line 1079"/>
                <p:cNvSpPr/>
                <p:nvPr/>
              </p:nvSpPr>
              <p:spPr>
                <a:xfrm>
                  <a:off x="5376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069" name="Line 1080"/>
                <p:cNvSpPr/>
                <p:nvPr/>
              </p:nvSpPr>
              <p:spPr>
                <a:xfrm>
                  <a:off x="5568" y="0"/>
                  <a:ext cx="0" cy="4320"/>
                </a:xfrm>
                <a:prstGeom prst="line">
                  <a:avLst/>
                </a:prstGeom>
                <a:ln w="9525" cap="flat" cmpd="sng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201" name="Rectangle 1081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02" name="Line 1082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35" name="Group 1083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6204" name="Line 1084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05" name="Line 1085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06" name="Arc 1086"/>
              <p:cNvSpPr/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1087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1088" descr="Rectangle: Click to edit Master text styles&#13;&#10;Second level&#13;&#10;Third level&#13;&#10;Fourth level&#13;&#10;Fifth level"/>
          <p:cNvSpPr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209" name="Rectangle 108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10" name="Rectangle 109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11" name="Rectangle 109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ahoma" panose="020B0604030504040204" pitchFamily="34" charset="0"/>
              </a:rPr>
            </a:fld>
            <a:endParaRPr lang="zh-CN" altLang="en-US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2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762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600" dirty="0"/>
              <a:t>实验八 生产流程控制电路设计与实现</a:t>
            </a:r>
            <a:endParaRPr lang="zh-CN" altLang="en-US" sz="3600" dirty="0"/>
          </a:p>
        </p:txBody>
      </p:sp>
      <p:sp>
        <p:nvSpPr>
          <p:cNvPr id="3075" name="Rectangle 3" descr="Rectangle: Click to edit Master text styles&#13;&#10;Second level&#13;&#10;Third level&#13;&#10;Fourth level&#13;&#10;Fifth level"/>
          <p:cNvSpPr>
            <a:spLocks noGrp="1"/>
          </p:cNvSpPr>
          <p:nvPr>
            <p:ph idx="1"/>
          </p:nvPr>
        </p:nvSpPr>
        <p:spPr>
          <a:xfrm>
            <a:off x="914400" y="1676400"/>
            <a:ext cx="6976745" cy="45180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</a:pPr>
            <a:r>
              <a:rPr lang="zh-CN" altLang="en-US" sz="2400" dirty="0"/>
              <a:t>实验内容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/>
              <a:t>综合运用计数器、译码器、数据选择器等中规模器件，设计满足工业生产需求的流程控制电路。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dirty="0"/>
              <a:t>熟练掌握</a:t>
            </a:r>
            <a:r>
              <a:rPr lang="en-US" altLang="zh-CN" sz="2400" dirty="0"/>
              <a:t> Quartus II </a:t>
            </a:r>
            <a:r>
              <a:rPr lang="zh-CN" altLang="en-US" sz="2400" dirty="0"/>
              <a:t>软件的仿真、引脚锁定、</a:t>
            </a:r>
            <a:r>
              <a:rPr lang="en-US" altLang="zh-CN" sz="2400" dirty="0"/>
              <a:t>FPGA </a:t>
            </a:r>
            <a:r>
              <a:rPr lang="zh-CN" altLang="en-US" sz="2400" dirty="0"/>
              <a:t>下载等全流程操作。</a:t>
            </a:r>
            <a:endParaRPr lang="zh-CN" altLang="en-US" sz="2400" dirty="0"/>
          </a:p>
          <a:p>
            <a:pPr lvl="1" eaLnBrk="1" hangingPunct="1">
              <a:lnSpc>
                <a:spcPct val="150000"/>
              </a:lnSpc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685800"/>
            <a:ext cx="7772400" cy="4335145"/>
          </a:xfrm>
        </p:spPr>
        <p:txBody>
          <a:bodyPr/>
          <a:p>
            <a:pPr marL="0" indent="0">
              <a:buNone/>
            </a:pPr>
            <a:r>
              <a:rPr lang="zh-CN" altLang="en-US"/>
              <a:t>实验目的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r>
              <a:rPr lang="zh-CN" altLang="en-US" sz="2400"/>
              <a:t>知识掌握：理解计数器、译码器的工作原理，掌握时序逻辑与组合逻辑电路的设计方法。</a:t>
            </a:r>
            <a:endParaRPr lang="zh-CN" altLang="en-US" sz="2400"/>
          </a:p>
          <a:p>
            <a:r>
              <a:rPr lang="zh-CN" altLang="en-US" sz="2400"/>
              <a:t>技能培养：熟练完成从逻辑设计、仿真验证到</a:t>
            </a:r>
            <a:r>
              <a:rPr lang="en-US" altLang="zh-CN" sz="2400"/>
              <a:t> FPGA </a:t>
            </a:r>
            <a:r>
              <a:rPr lang="zh-CN" altLang="en-US" sz="2400"/>
              <a:t>硬件实现的全流程，提升电路调试与故障排查能力。</a:t>
            </a:r>
            <a:endParaRPr lang="zh-CN" altLang="en-US" sz="2400"/>
          </a:p>
          <a:p>
            <a:r>
              <a:rPr lang="zh-CN" altLang="en-US" sz="2400"/>
              <a:t>应用实践：实现五工艺八工序的精准控制，掌握功能拓展（如紧急停止）的兼容性设计方法。</a:t>
            </a:r>
            <a:endParaRPr lang="zh-CN" altLang="en-US" sz="2400"/>
          </a:p>
          <a:p>
            <a:r>
              <a:rPr lang="zh-CN" altLang="en-US" sz="2400"/>
              <a:t>素养提升：培养将实际需求转化为工程方案的思维，强化系统设计的可靠性与实用性意识。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574040" y="533400"/>
            <a:ext cx="7995285" cy="5809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实验任务</a:t>
            </a:r>
            <a:endParaRPr kumimoji="1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      某工厂生产由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（加料）、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（加热）、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（加压）、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（清洗）、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（取出）五个工艺流程组成，一个生产周期分为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个工序，各段的时间关系如下表，试采用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3-8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线译码器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74LS138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和四位二进制同步加计数器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74LS161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以及其它电路设计该生产流程的控制</a:t>
            </a:r>
            <a:r>
              <a:rPr kumimoji="1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给出每一个工艺的进行操作的控制信号。</a:t>
            </a:r>
            <a:endParaRPr kumimoji="1" lang="zh-CN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2600" y="3733800"/>
            <a:ext cx="5203825" cy="2323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85800" y="1143000"/>
            <a:ext cx="7440930" cy="1588770"/>
          </a:xfrm>
          <a:prstGeom prst="rect">
            <a:avLst/>
          </a:prstGeom>
        </p:spPr>
        <p:txBody>
          <a:bodyPr>
            <a:noAutofit/>
          </a:bodyPr>
          <a:p>
            <a:pPr defTabSz="266700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、根据时间表得出输出时序图：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、画出逻辑电路图。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defTabSz="266700"/>
            <a:r>
              <a:rPr kumimoji="1" lang="en-US" altLang="zh-CN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3</a:t>
            </a:r>
            <a:r>
              <a:rPr kumimoji="1"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、通过软件模拟后，下载到</a:t>
            </a:r>
            <a:r>
              <a:rPr kumimoji="1" lang="en-US" altLang="zh-CN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FPGA</a:t>
            </a:r>
            <a:r>
              <a:rPr kumimoji="1"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进行测试，记录波形图和测试结果。</a:t>
            </a:r>
            <a:endParaRPr kumimoji="1" lang="zh-CN" altLang="en-US" noProof="0" dirty="0" smtClean="0">
              <a:ln>
                <a:noFill/>
              </a:ln>
              <a:effectLst/>
              <a:uLnTx/>
              <a:uFillTx/>
              <a:sym typeface="+mn-ea"/>
            </a:endParaRPr>
          </a:p>
          <a:p>
            <a:pPr defTabSz="266700"/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marR="0" lvl="1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Pct val="110000"/>
              <a:buFont typeface="Wingdings" panose="05000000000000000000" pitchFamily="2" charset="2"/>
              <a:buChar char="n"/>
              <a:defRPr/>
            </a:pPr>
            <a:r>
              <a:rPr kumimoji="1"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参考资料</a:t>
            </a:r>
            <a:endParaRPr kumimoji="1" lang="zh-CN" altLang="en-US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812800" marR="0" lvl="0" indent="-8128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      1.《数字逻辑》理论课教材</a:t>
            </a:r>
            <a:endParaRPr kumimoji="1" lang="zh-CN" altLang="en-US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cs typeface="+mn-cs"/>
            </a:endParaRPr>
          </a:p>
          <a:p>
            <a:pPr marL="1168400" marR="0" lvl="1" indent="-7112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2.《数字逻辑实验指导书》 p.实验</a:t>
            </a:r>
            <a:r>
              <a:rPr kumimoji="1" lang="en-US" altLang="zh-CN" noProof="0" dirty="0" smtClean="0">
                <a:ln>
                  <a:noFill/>
                </a:ln>
                <a:effectLst/>
                <a:uLnTx/>
                <a:uFillTx/>
                <a:sym typeface="+mn-ea"/>
              </a:rPr>
              <a:t>-88-90</a:t>
            </a:r>
            <a:endParaRPr kumimoji="1" lang="en-US" altLang="zh-CN" noProof="0" dirty="0" smtClean="0">
              <a:ln>
                <a:noFill/>
              </a:ln>
              <a:effectLst/>
              <a:uLnTx/>
              <a:uFillTx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09600" y="1143000"/>
            <a:ext cx="7451725" cy="3603625"/>
          </a:xfrm>
          <a:prstGeom prst="rect">
            <a:avLst/>
          </a:prstGeom>
        </p:spPr>
        <p:txBody>
          <a:bodyPr wrap="square">
            <a:noAutofit/>
          </a:bodyPr>
          <a:p>
            <a:pPr marL="0" algn="l" defTabSz="266700">
              <a:lnSpc>
                <a:spcPct val="100000"/>
              </a:lnSpc>
              <a:spcBef>
                <a:spcPts val="1000"/>
              </a:spcBef>
              <a:buClrTx/>
              <a:buSzTx/>
              <a:buNone/>
            </a:pPr>
            <a:r>
              <a:rPr lang="zh-CN" altLang="en-US" sz="2400" b="0" i="0">
                <a:latin typeface="宋体" panose="02010600030101010101" pitchFamily="2" charset="-122"/>
              </a:rPr>
              <a:t>思考题（AI 拓展题）（选做）</a:t>
            </a:r>
            <a:endParaRPr lang="zh-CN" altLang="en-US" sz="2400" b="0" i="0">
              <a:latin typeface="宋体" panose="02010600030101010101" pitchFamily="2" charset="-122"/>
            </a:endParaRPr>
          </a:p>
          <a:p>
            <a:pPr marL="0" algn="l" defTabSz="266700">
              <a:lnSpc>
                <a:spcPct val="100000"/>
              </a:lnSpc>
              <a:buClrTx/>
              <a:buSzTx/>
              <a:buNone/>
            </a:pPr>
            <a:r>
              <a:rPr lang="zh-CN" altLang="en-US" sz="2000" b="0" i="0">
                <a:latin typeface="宋体" panose="02010600030101010101" pitchFamily="2" charset="-122"/>
              </a:rPr>
              <a:t>用 AI 工具优化设计，增加 “紧急停止” 功能：按下实验箱某一开关后，所有流程控制信号变为 0（暂停），松开后从当前工序继续。要求：</a:t>
            </a:r>
            <a:endParaRPr lang="zh-CN" altLang="en-US" sz="2000" b="0" i="0">
              <a:latin typeface="宋体" panose="02010600030101010101" pitchFamily="2" charset="-122"/>
            </a:endParaRPr>
          </a:p>
          <a:p>
            <a:pPr marL="0" algn="l" defTabSz="266700">
              <a:lnSpc>
                <a:spcPct val="100000"/>
              </a:lnSpc>
              <a:spcBef>
                <a:spcPts val="600"/>
              </a:spcBef>
              <a:buClrTx/>
              <a:buSzTx/>
              <a:buAutoNum type="arabicPeriod"/>
            </a:pPr>
            <a:r>
              <a:rPr lang="zh-CN" altLang="en-US" sz="2000" b="0" i="0">
                <a:latin typeface="宋体" panose="02010600030101010101" pitchFamily="2" charset="-122"/>
              </a:rPr>
              <a:t>生成新增控制逻辑。</a:t>
            </a:r>
            <a:endParaRPr lang="zh-CN" altLang="en-US" sz="2000" b="0" i="0">
              <a:latin typeface="宋体" panose="02010600030101010101" pitchFamily="2" charset="-122"/>
            </a:endParaRPr>
          </a:p>
          <a:p>
            <a:pPr marL="0" algn="l" defTabSz="266700">
              <a:lnSpc>
                <a:spcPct val="100000"/>
              </a:lnSpc>
              <a:spcBef>
                <a:spcPts val="600"/>
              </a:spcBef>
              <a:buClrTx/>
              <a:buSzTx/>
              <a:buAutoNum type="arabicPeriod"/>
            </a:pPr>
            <a:r>
              <a:rPr lang="zh-CN" altLang="en-US" sz="2000" b="0" i="0">
                <a:latin typeface="宋体" panose="02010600030101010101" pitchFamily="2" charset="-122"/>
              </a:rPr>
              <a:t>仿真验证功能有效性，分析 AI 在原有电路基础上新增功能时的兼容性设计思路。</a:t>
            </a:r>
            <a:endParaRPr lang="zh-CN" altLang="en-US" sz="2000" b="0" i="0">
              <a:latin typeface="宋体" panose="02010600030101010101" pitchFamily="2" charset="-122"/>
            </a:endParaRPr>
          </a:p>
          <a:p>
            <a:pPr marL="0" algn="l" defTabSz="266700">
              <a:lnSpc>
                <a:spcPct val="100000"/>
              </a:lnSpc>
              <a:spcBef>
                <a:spcPts val="600"/>
              </a:spcBef>
              <a:buClrTx/>
              <a:buSzTx/>
              <a:buAutoNum type="arabicPeriod"/>
            </a:pPr>
            <a:r>
              <a:rPr lang="zh-CN" altLang="en-US" sz="2000" b="0" i="0">
                <a:latin typeface="宋体" panose="02010600030101010101" pitchFamily="2" charset="-122"/>
              </a:rPr>
              <a:t>硬件测试新增功能，记录实验现象。</a:t>
            </a:r>
            <a:endParaRPr lang="zh-CN" altLang="en-US" sz="2000" b="0" i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0</TotalTime>
  <Words>681</Words>
  <Application>WPS 演示</Application>
  <PresentationFormat>全屏显示(4:3)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Tahoma</vt:lpstr>
      <vt:lpstr>Times New Roman</vt:lpstr>
      <vt:lpstr>微软雅黑</vt:lpstr>
      <vt:lpstr>Arial Unicode MS</vt:lpstr>
      <vt:lpstr>Calibri</vt:lpstr>
      <vt:lpstr>Blueprint</vt:lpstr>
      <vt:lpstr>实验八 生产流程控制电路设计与实现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Administrator</cp:lastModifiedBy>
  <cp:revision>174</cp:revision>
  <dcterms:created xsi:type="dcterms:W3CDTF">2025-11-11T00:52:00Z</dcterms:created>
  <dcterms:modified xsi:type="dcterms:W3CDTF">2025-11-11T02:24:42Z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7E231FF558E5495C9A79590EEBA2BAB5_13</vt:lpwstr>
  </property>
  <property fmtid="{D5CDD505-2E9C-101B-9397-08002B2CF9AE}" pid="3" name="KSOProductBuildVer">
    <vt:lpwstr>2052-12.1.0.23542</vt:lpwstr>
  </property>
</Properties>
</file>