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9" r:id="rId5"/>
    <p:sldId id="264" r:id="rId6"/>
    <p:sldId id="270" r:id="rId7"/>
    <p:sldId id="267" r:id="rId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66FF"/>
    <a:srgbClr val="C40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89"/>
    <p:restoredTop sz="86438"/>
  </p:normalViewPr>
  <p:slideViewPr>
    <p:cSldViewPr showGuides="1">
      <p:cViewPr varScale="1">
        <p:scale>
          <a:sx n="76" d="100"/>
          <a:sy n="76" d="100"/>
        </p:scale>
        <p:origin x="3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04" y="282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DCAF4B-9C1A-4864-B785-36209DD35120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6" name="Group 3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79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67" name="Group 5"/>
              <p:cNvGrpSpPr/>
              <p:nvPr userDrawn="1"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2069" name="Line 6"/>
                <p:cNvSpPr/>
                <p:nvPr/>
              </p:nvSpPr>
              <p:spPr>
                <a:xfrm>
                  <a:off x="0" y="19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0" name="Line 7"/>
                <p:cNvSpPr/>
                <p:nvPr/>
              </p:nvSpPr>
              <p:spPr>
                <a:xfrm>
                  <a:off x="0" y="38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1" name="Line 8"/>
                <p:cNvSpPr/>
                <p:nvPr/>
              </p:nvSpPr>
              <p:spPr>
                <a:xfrm>
                  <a:off x="0" y="57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2" name="Line 9"/>
                <p:cNvSpPr/>
                <p:nvPr/>
              </p:nvSpPr>
              <p:spPr>
                <a:xfrm>
                  <a:off x="0" y="76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3" name="Line 10"/>
                <p:cNvSpPr/>
                <p:nvPr/>
              </p:nvSpPr>
              <p:spPr>
                <a:xfrm>
                  <a:off x="0" y="96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4" name="Line 11"/>
                <p:cNvSpPr/>
                <p:nvPr/>
              </p:nvSpPr>
              <p:spPr>
                <a:xfrm>
                  <a:off x="0" y="115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5" name="Line 12"/>
                <p:cNvSpPr/>
                <p:nvPr/>
              </p:nvSpPr>
              <p:spPr>
                <a:xfrm>
                  <a:off x="0" y="134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6" name="Line 13"/>
                <p:cNvSpPr/>
                <p:nvPr/>
              </p:nvSpPr>
              <p:spPr>
                <a:xfrm>
                  <a:off x="0" y="153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7" name="Line 14"/>
                <p:cNvSpPr/>
                <p:nvPr/>
              </p:nvSpPr>
              <p:spPr>
                <a:xfrm>
                  <a:off x="0" y="172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8" name="Line 15"/>
                <p:cNvSpPr/>
                <p:nvPr/>
              </p:nvSpPr>
              <p:spPr>
                <a:xfrm>
                  <a:off x="0" y="192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9" name="Line 16"/>
                <p:cNvSpPr/>
                <p:nvPr/>
              </p:nvSpPr>
              <p:spPr>
                <a:xfrm>
                  <a:off x="0" y="211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0" name="Line 17"/>
                <p:cNvSpPr/>
                <p:nvPr/>
              </p:nvSpPr>
              <p:spPr>
                <a:xfrm>
                  <a:off x="0" y="230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1" name="Line 18"/>
                <p:cNvSpPr/>
                <p:nvPr/>
              </p:nvSpPr>
              <p:spPr>
                <a:xfrm>
                  <a:off x="0" y="249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2" name="Line 19"/>
                <p:cNvSpPr/>
                <p:nvPr/>
              </p:nvSpPr>
              <p:spPr>
                <a:xfrm>
                  <a:off x="0" y="268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3" name="Line 20"/>
                <p:cNvSpPr/>
                <p:nvPr/>
              </p:nvSpPr>
              <p:spPr>
                <a:xfrm>
                  <a:off x="0" y="288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4" name="Line 21"/>
                <p:cNvSpPr/>
                <p:nvPr/>
              </p:nvSpPr>
              <p:spPr>
                <a:xfrm>
                  <a:off x="0" y="307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5" name="Line 22"/>
                <p:cNvSpPr/>
                <p:nvPr/>
              </p:nvSpPr>
              <p:spPr>
                <a:xfrm>
                  <a:off x="0" y="326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6" name="Line 23"/>
                <p:cNvSpPr/>
                <p:nvPr/>
              </p:nvSpPr>
              <p:spPr>
                <a:xfrm>
                  <a:off x="0" y="345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7" name="Line 24"/>
                <p:cNvSpPr/>
                <p:nvPr/>
              </p:nvSpPr>
              <p:spPr>
                <a:xfrm>
                  <a:off x="0" y="364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8" name="Line 25"/>
                <p:cNvSpPr/>
                <p:nvPr/>
              </p:nvSpPr>
              <p:spPr>
                <a:xfrm>
                  <a:off x="0" y="384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9" name="Line 26"/>
                <p:cNvSpPr/>
                <p:nvPr/>
              </p:nvSpPr>
              <p:spPr>
                <a:xfrm>
                  <a:off x="0" y="403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0" name="Line 27"/>
                <p:cNvSpPr/>
                <p:nvPr/>
              </p:nvSpPr>
              <p:spPr>
                <a:xfrm>
                  <a:off x="0" y="422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1" name="Line 28"/>
                <p:cNvSpPr/>
                <p:nvPr/>
              </p:nvSpPr>
              <p:spPr>
                <a:xfrm>
                  <a:off x="1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2" name="Line 29"/>
                <p:cNvSpPr/>
                <p:nvPr/>
              </p:nvSpPr>
              <p:spPr>
                <a:xfrm>
                  <a:off x="3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3" name="Line 30"/>
                <p:cNvSpPr/>
                <p:nvPr/>
              </p:nvSpPr>
              <p:spPr>
                <a:xfrm>
                  <a:off x="5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4" name="Line 31"/>
                <p:cNvSpPr/>
                <p:nvPr/>
              </p:nvSpPr>
              <p:spPr>
                <a:xfrm>
                  <a:off x="7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5" name="Line 32"/>
                <p:cNvSpPr/>
                <p:nvPr/>
              </p:nvSpPr>
              <p:spPr>
                <a:xfrm>
                  <a:off x="96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6" name="Line 33"/>
                <p:cNvSpPr/>
                <p:nvPr/>
              </p:nvSpPr>
              <p:spPr>
                <a:xfrm>
                  <a:off x="115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7" name="Line 34"/>
                <p:cNvSpPr/>
                <p:nvPr/>
              </p:nvSpPr>
              <p:spPr>
                <a:xfrm>
                  <a:off x="134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8" name="Line 35"/>
                <p:cNvSpPr/>
                <p:nvPr/>
              </p:nvSpPr>
              <p:spPr>
                <a:xfrm>
                  <a:off x="153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9" name="Line 36"/>
                <p:cNvSpPr/>
                <p:nvPr/>
              </p:nvSpPr>
              <p:spPr>
                <a:xfrm>
                  <a:off x="172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0" name="Line 37"/>
                <p:cNvSpPr/>
                <p:nvPr/>
              </p:nvSpPr>
              <p:spPr>
                <a:xfrm>
                  <a:off x="192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1" name="Line 38"/>
                <p:cNvSpPr/>
                <p:nvPr/>
              </p:nvSpPr>
              <p:spPr>
                <a:xfrm>
                  <a:off x="211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2" name="Line 39"/>
                <p:cNvSpPr/>
                <p:nvPr/>
              </p:nvSpPr>
              <p:spPr>
                <a:xfrm>
                  <a:off x="230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3" name="Line 40"/>
                <p:cNvSpPr/>
                <p:nvPr/>
              </p:nvSpPr>
              <p:spPr>
                <a:xfrm>
                  <a:off x="249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4" name="Line 41"/>
                <p:cNvSpPr/>
                <p:nvPr/>
              </p:nvSpPr>
              <p:spPr>
                <a:xfrm>
                  <a:off x="268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5" name="Line 42"/>
                <p:cNvSpPr/>
                <p:nvPr/>
              </p:nvSpPr>
              <p:spPr>
                <a:xfrm>
                  <a:off x="288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6" name="Line 43"/>
                <p:cNvSpPr/>
                <p:nvPr/>
              </p:nvSpPr>
              <p:spPr>
                <a:xfrm>
                  <a:off x="307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7" name="Line 44"/>
                <p:cNvSpPr/>
                <p:nvPr/>
              </p:nvSpPr>
              <p:spPr>
                <a:xfrm>
                  <a:off x="326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8" name="Line 45"/>
                <p:cNvSpPr/>
                <p:nvPr/>
              </p:nvSpPr>
              <p:spPr>
                <a:xfrm>
                  <a:off x="345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9" name="Line 46"/>
                <p:cNvSpPr/>
                <p:nvPr/>
              </p:nvSpPr>
              <p:spPr>
                <a:xfrm>
                  <a:off x="364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0" name="Line 47"/>
                <p:cNvSpPr/>
                <p:nvPr/>
              </p:nvSpPr>
              <p:spPr>
                <a:xfrm>
                  <a:off x="384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1" name="Line 48"/>
                <p:cNvSpPr/>
                <p:nvPr/>
              </p:nvSpPr>
              <p:spPr>
                <a:xfrm>
                  <a:off x="403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2" name="Line 49"/>
                <p:cNvSpPr/>
                <p:nvPr/>
              </p:nvSpPr>
              <p:spPr>
                <a:xfrm>
                  <a:off x="422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3" name="Line 50"/>
                <p:cNvSpPr/>
                <p:nvPr/>
              </p:nvSpPr>
              <p:spPr>
                <a:xfrm>
                  <a:off x="441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4" name="Line 51"/>
                <p:cNvSpPr/>
                <p:nvPr/>
              </p:nvSpPr>
              <p:spPr>
                <a:xfrm>
                  <a:off x="460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5" name="Line 52"/>
                <p:cNvSpPr/>
                <p:nvPr/>
              </p:nvSpPr>
              <p:spPr>
                <a:xfrm>
                  <a:off x="480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6" name="Line 53"/>
                <p:cNvSpPr/>
                <p:nvPr/>
              </p:nvSpPr>
              <p:spPr>
                <a:xfrm>
                  <a:off x="49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7" name="Line 54"/>
                <p:cNvSpPr/>
                <p:nvPr/>
              </p:nvSpPr>
              <p:spPr>
                <a:xfrm>
                  <a:off x="51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8" name="Line 55"/>
                <p:cNvSpPr/>
                <p:nvPr/>
              </p:nvSpPr>
              <p:spPr>
                <a:xfrm>
                  <a:off x="53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9" name="Line 56"/>
                <p:cNvSpPr/>
                <p:nvPr/>
              </p:nvSpPr>
              <p:spPr>
                <a:xfrm>
                  <a:off x="55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68" name="Line 57"/>
              <p:cNvSpPr/>
              <p:nvPr/>
            </p:nvSpPr>
            <p:spPr>
              <a:xfrm>
                <a:off x="5568" y="0"/>
                <a:ext cx="0" cy="1488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7" name="Group 58"/>
            <p:cNvGrpSpPr/>
            <p:nvPr userDrawn="1"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2062" name="Line 59"/>
              <p:cNvSpPr/>
              <p:nvPr/>
            </p:nvSpPr>
            <p:spPr>
              <a:xfrm>
                <a:off x="506" y="559"/>
                <a:ext cx="0" cy="179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3" name="Line 60"/>
              <p:cNvSpPr/>
              <p:nvPr/>
            </p:nvSpPr>
            <p:spPr>
              <a:xfrm flipH="1" flipV="1">
                <a:off x="3" y="1924"/>
                <a:ext cx="3211" cy="1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4" name="Line 61"/>
              <p:cNvSpPr/>
              <p:nvPr/>
            </p:nvSpPr>
            <p:spPr>
              <a:xfrm flipH="1" flipV="1">
                <a:off x="384" y="938"/>
                <a:ext cx="3811" cy="1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5" name="Arc 62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195" h="43200" fill="none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058" name="Group 63"/>
            <p:cNvGrpSpPr/>
            <p:nvPr userDrawn="1"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2059" name="Line 64"/>
              <p:cNvSpPr/>
              <p:nvPr/>
            </p:nvSpPr>
            <p:spPr>
              <a:xfrm flipV="1">
                <a:off x="1480" y="3442"/>
                <a:ext cx="38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0" name="Line 65"/>
              <p:cNvSpPr/>
              <p:nvPr/>
            </p:nvSpPr>
            <p:spPr>
              <a:xfrm flipH="1">
                <a:off x="5172" y="1952"/>
                <a:ext cx="0" cy="181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1" name="Arc 66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195" h="43200" fill="none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723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3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3" name="Rectangle 6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5B433-0542-4DCA-90C0-826C372B5EEB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/>
                <p:nvPr/>
              </p:nvSpPr>
              <p:spPr>
                <a:xfrm>
                  <a:off x="0" y="19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1" name="Line 1030"/>
                <p:cNvSpPr/>
                <p:nvPr/>
              </p:nvSpPr>
              <p:spPr>
                <a:xfrm>
                  <a:off x="0" y="38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2" name="Line 1031"/>
                <p:cNvSpPr/>
                <p:nvPr/>
              </p:nvSpPr>
              <p:spPr>
                <a:xfrm>
                  <a:off x="0" y="57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3" name="Line 1032"/>
                <p:cNvSpPr/>
                <p:nvPr/>
              </p:nvSpPr>
              <p:spPr>
                <a:xfrm>
                  <a:off x="0" y="76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4" name="Line 1033"/>
                <p:cNvSpPr/>
                <p:nvPr/>
              </p:nvSpPr>
              <p:spPr>
                <a:xfrm>
                  <a:off x="0" y="96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5" name="Line 1034"/>
                <p:cNvSpPr/>
                <p:nvPr/>
              </p:nvSpPr>
              <p:spPr>
                <a:xfrm>
                  <a:off x="0" y="115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6" name="Line 1035"/>
                <p:cNvSpPr/>
                <p:nvPr/>
              </p:nvSpPr>
              <p:spPr>
                <a:xfrm>
                  <a:off x="0" y="134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7" name="Line 1036"/>
                <p:cNvSpPr/>
                <p:nvPr/>
              </p:nvSpPr>
              <p:spPr>
                <a:xfrm>
                  <a:off x="0" y="153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8" name="Line 1037"/>
                <p:cNvSpPr/>
                <p:nvPr/>
              </p:nvSpPr>
              <p:spPr>
                <a:xfrm>
                  <a:off x="0" y="172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9" name="Line 1038"/>
                <p:cNvSpPr/>
                <p:nvPr/>
              </p:nvSpPr>
              <p:spPr>
                <a:xfrm>
                  <a:off x="0" y="192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0" name="Line 1039"/>
                <p:cNvSpPr/>
                <p:nvPr/>
              </p:nvSpPr>
              <p:spPr>
                <a:xfrm>
                  <a:off x="0" y="211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1" name="Line 1040"/>
                <p:cNvSpPr/>
                <p:nvPr/>
              </p:nvSpPr>
              <p:spPr>
                <a:xfrm>
                  <a:off x="0" y="230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2" name="Line 1041"/>
                <p:cNvSpPr/>
                <p:nvPr/>
              </p:nvSpPr>
              <p:spPr>
                <a:xfrm>
                  <a:off x="0" y="249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3" name="Line 1042"/>
                <p:cNvSpPr/>
                <p:nvPr/>
              </p:nvSpPr>
              <p:spPr>
                <a:xfrm>
                  <a:off x="0" y="268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4" name="Line 1043"/>
                <p:cNvSpPr/>
                <p:nvPr/>
              </p:nvSpPr>
              <p:spPr>
                <a:xfrm>
                  <a:off x="0" y="288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5" name="Line 1044"/>
                <p:cNvSpPr/>
                <p:nvPr/>
              </p:nvSpPr>
              <p:spPr>
                <a:xfrm>
                  <a:off x="0" y="307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6" name="Line 1045"/>
                <p:cNvSpPr/>
                <p:nvPr/>
              </p:nvSpPr>
              <p:spPr>
                <a:xfrm>
                  <a:off x="0" y="326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7" name="Line 1046"/>
                <p:cNvSpPr/>
                <p:nvPr/>
              </p:nvSpPr>
              <p:spPr>
                <a:xfrm>
                  <a:off x="0" y="345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8" name="Line 1047"/>
                <p:cNvSpPr/>
                <p:nvPr/>
              </p:nvSpPr>
              <p:spPr>
                <a:xfrm>
                  <a:off x="0" y="364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9" name="Line 1048"/>
                <p:cNvSpPr/>
                <p:nvPr/>
              </p:nvSpPr>
              <p:spPr>
                <a:xfrm>
                  <a:off x="0" y="384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90" name="Line 1049"/>
                <p:cNvSpPr/>
                <p:nvPr/>
              </p:nvSpPr>
              <p:spPr>
                <a:xfrm>
                  <a:off x="0" y="403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91" name="Line 1050"/>
                <p:cNvSpPr/>
                <p:nvPr/>
              </p:nvSpPr>
              <p:spPr>
                <a:xfrm>
                  <a:off x="0" y="422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40" name="Group 1051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/>
                <p:nvPr/>
              </p:nvSpPr>
              <p:spPr>
                <a:xfrm>
                  <a:off x="1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2" name="Line 1053"/>
                <p:cNvSpPr/>
                <p:nvPr/>
              </p:nvSpPr>
              <p:spPr>
                <a:xfrm>
                  <a:off x="3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3" name="Line 1054"/>
                <p:cNvSpPr/>
                <p:nvPr/>
              </p:nvSpPr>
              <p:spPr>
                <a:xfrm>
                  <a:off x="5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4" name="Line 1055"/>
                <p:cNvSpPr/>
                <p:nvPr/>
              </p:nvSpPr>
              <p:spPr>
                <a:xfrm>
                  <a:off x="7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5" name="Line 1056"/>
                <p:cNvSpPr/>
                <p:nvPr/>
              </p:nvSpPr>
              <p:spPr>
                <a:xfrm>
                  <a:off x="96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6" name="Line 1057"/>
                <p:cNvSpPr/>
                <p:nvPr/>
              </p:nvSpPr>
              <p:spPr>
                <a:xfrm>
                  <a:off x="115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7" name="Line 1058"/>
                <p:cNvSpPr/>
                <p:nvPr/>
              </p:nvSpPr>
              <p:spPr>
                <a:xfrm>
                  <a:off x="134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8" name="Line 1059"/>
                <p:cNvSpPr/>
                <p:nvPr/>
              </p:nvSpPr>
              <p:spPr>
                <a:xfrm>
                  <a:off x="153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9" name="Line 1060"/>
                <p:cNvSpPr/>
                <p:nvPr/>
              </p:nvSpPr>
              <p:spPr>
                <a:xfrm>
                  <a:off x="172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0" name="Line 1061"/>
                <p:cNvSpPr/>
                <p:nvPr/>
              </p:nvSpPr>
              <p:spPr>
                <a:xfrm>
                  <a:off x="192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1" name="Line 1062"/>
                <p:cNvSpPr/>
                <p:nvPr/>
              </p:nvSpPr>
              <p:spPr>
                <a:xfrm>
                  <a:off x="211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2" name="Line 1063"/>
                <p:cNvSpPr/>
                <p:nvPr/>
              </p:nvSpPr>
              <p:spPr>
                <a:xfrm>
                  <a:off x="230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3" name="Line 1064"/>
                <p:cNvSpPr/>
                <p:nvPr/>
              </p:nvSpPr>
              <p:spPr>
                <a:xfrm>
                  <a:off x="249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4" name="Line 1065"/>
                <p:cNvSpPr/>
                <p:nvPr/>
              </p:nvSpPr>
              <p:spPr>
                <a:xfrm>
                  <a:off x="268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5" name="Line 1066"/>
                <p:cNvSpPr/>
                <p:nvPr/>
              </p:nvSpPr>
              <p:spPr>
                <a:xfrm>
                  <a:off x="288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6" name="Line 1067"/>
                <p:cNvSpPr/>
                <p:nvPr/>
              </p:nvSpPr>
              <p:spPr>
                <a:xfrm>
                  <a:off x="307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7" name="Line 1068"/>
                <p:cNvSpPr/>
                <p:nvPr/>
              </p:nvSpPr>
              <p:spPr>
                <a:xfrm>
                  <a:off x="326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8" name="Line 1069"/>
                <p:cNvSpPr/>
                <p:nvPr/>
              </p:nvSpPr>
              <p:spPr>
                <a:xfrm>
                  <a:off x="345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9" name="Line 1070"/>
                <p:cNvSpPr/>
                <p:nvPr/>
              </p:nvSpPr>
              <p:spPr>
                <a:xfrm>
                  <a:off x="364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0" name="Line 1071"/>
                <p:cNvSpPr/>
                <p:nvPr/>
              </p:nvSpPr>
              <p:spPr>
                <a:xfrm>
                  <a:off x="384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1" name="Line 1072"/>
                <p:cNvSpPr/>
                <p:nvPr/>
              </p:nvSpPr>
              <p:spPr>
                <a:xfrm>
                  <a:off x="403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2" name="Line 1073"/>
                <p:cNvSpPr/>
                <p:nvPr/>
              </p:nvSpPr>
              <p:spPr>
                <a:xfrm>
                  <a:off x="422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3" name="Line 1074"/>
                <p:cNvSpPr/>
                <p:nvPr/>
              </p:nvSpPr>
              <p:spPr>
                <a:xfrm>
                  <a:off x="441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4" name="Line 1075"/>
                <p:cNvSpPr/>
                <p:nvPr/>
              </p:nvSpPr>
              <p:spPr>
                <a:xfrm>
                  <a:off x="460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5" name="Line 1076"/>
                <p:cNvSpPr/>
                <p:nvPr/>
              </p:nvSpPr>
              <p:spPr>
                <a:xfrm>
                  <a:off x="480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6" name="Line 1077"/>
                <p:cNvSpPr/>
                <p:nvPr/>
              </p:nvSpPr>
              <p:spPr>
                <a:xfrm>
                  <a:off x="49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7" name="Line 1078"/>
                <p:cNvSpPr/>
                <p:nvPr/>
              </p:nvSpPr>
              <p:spPr>
                <a:xfrm>
                  <a:off x="51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8" name="Line 1079"/>
                <p:cNvSpPr/>
                <p:nvPr/>
              </p:nvSpPr>
              <p:spPr>
                <a:xfrm>
                  <a:off x="53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9" name="Line 1080"/>
                <p:cNvSpPr/>
                <p:nvPr/>
              </p:nvSpPr>
              <p:spPr>
                <a:xfrm>
                  <a:off x="55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Line 1082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35" name="Group 1083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/>
              <p:nvPr/>
            </p:nvSpPr>
            <p:spPr>
              <a:xfrm flipH="1">
                <a:off x="96" y="1038"/>
                <a:ext cx="22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7" name="Line 1085"/>
              <p:cNvSpPr/>
              <p:nvPr/>
            </p:nvSpPr>
            <p:spPr>
              <a:xfrm>
                <a:off x="336" y="920"/>
                <a:ext cx="0" cy="287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8" name="Arc 1086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195" h="43200" fill="none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27" name="Rectangle 1087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209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10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11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E9CE98-1DE3-44E7-A266-C6C2D3E17BA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/>
              <a:t>实验三、组合电路（二）</a:t>
            </a:r>
            <a:endParaRPr lang="zh-CN" altLang="en-US" b="1" dirty="0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071563" y="2276475"/>
            <a:ext cx="7143750" cy="29638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00000"/>
                </a:solidFill>
              </a:rPr>
              <a:t>实验内容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1、设计</a:t>
            </a:r>
            <a:r>
              <a:rPr lang="en-US" altLang="zh-CN" b="1" dirty="0">
                <a:solidFill>
                  <a:srgbClr val="000000"/>
                </a:solidFill>
              </a:rPr>
              <a:t>8421</a:t>
            </a:r>
            <a:r>
              <a:rPr lang="zh-CN" altLang="en-US" b="1" dirty="0">
                <a:solidFill>
                  <a:srgbClr val="000000"/>
                </a:solidFill>
              </a:rPr>
              <a:t>码到余</a:t>
            </a:r>
            <a:r>
              <a:rPr lang="en-US" altLang="zh-CN" b="1" dirty="0">
                <a:solidFill>
                  <a:srgbClr val="000000"/>
                </a:solidFill>
              </a:rPr>
              <a:t>3</a:t>
            </a:r>
            <a:r>
              <a:rPr lang="zh-CN" altLang="en-US" b="1" dirty="0">
                <a:solidFill>
                  <a:srgbClr val="000000"/>
                </a:solidFill>
              </a:rPr>
              <a:t>码的转换电路</a:t>
            </a:r>
            <a:endParaRPr lang="en-US" altLang="zh-CN" b="1" dirty="0">
              <a:solidFill>
                <a:srgbClr val="000000"/>
              </a:solidFill>
            </a:endParaRPr>
          </a:p>
          <a:p>
            <a:pPr lvl="1" eaLnBrk="1" hangingPunct="1">
              <a:buNone/>
            </a:pPr>
            <a:endParaRPr lang="zh-CN" altLang="en-US" b="1" dirty="0">
              <a:solidFill>
                <a:srgbClr val="000000"/>
              </a:solidFill>
            </a:endParaRPr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2、设计</a:t>
            </a:r>
            <a:r>
              <a:rPr lang="en-US" altLang="zh-CN" b="1" dirty="0">
                <a:solidFill>
                  <a:srgbClr val="000000"/>
                </a:solidFill>
              </a:rPr>
              <a:t>2421</a:t>
            </a:r>
            <a:r>
              <a:rPr lang="zh-CN" altLang="en-US" b="1" dirty="0">
                <a:solidFill>
                  <a:srgbClr val="000000"/>
                </a:solidFill>
              </a:rPr>
              <a:t>码到</a:t>
            </a:r>
            <a:r>
              <a:rPr lang="en-US" altLang="zh-CN" b="1" dirty="0">
                <a:solidFill>
                  <a:srgbClr val="000000"/>
                </a:solidFill>
              </a:rPr>
              <a:t>gray</a:t>
            </a:r>
            <a:r>
              <a:rPr lang="zh-CN" altLang="en-US" b="1" dirty="0">
                <a:solidFill>
                  <a:srgbClr val="000000"/>
                </a:solidFill>
              </a:rPr>
              <a:t>码的转换电路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8104188" cy="642937"/>
          </a:xfrm>
          <a:ln/>
        </p:spPr>
        <p:txBody>
          <a:bodyPr vert="horz" wrap="square" lIns="91440" tIns="45720" rIns="91440" bIns="45720" anchor="b" anchorCtr="0"/>
          <a:p>
            <a:pPr marL="342900" indent="-342900" eaLnBrk="1" hangingPunct="1"/>
            <a:r>
              <a:rPr lang="zh-CN" altLang="en-US" sz="3600" b="1" dirty="0"/>
              <a:t>1</a:t>
            </a:r>
            <a:r>
              <a:rPr lang="en-US" altLang="zh-CN" sz="3600" b="1" dirty="0"/>
              <a:t>. </a:t>
            </a:r>
            <a:r>
              <a:rPr lang="zh-CN" altLang="en-US" sz="3600" b="1" dirty="0"/>
              <a:t>设计</a:t>
            </a:r>
            <a:r>
              <a:rPr lang="en-US" altLang="zh-CN" sz="3600" b="1" dirty="0"/>
              <a:t>8421</a:t>
            </a:r>
            <a:r>
              <a:rPr lang="zh-CN" altLang="en-US" sz="3600" b="1" dirty="0"/>
              <a:t>码到余</a:t>
            </a:r>
            <a:r>
              <a:rPr lang="en-US" altLang="zh-CN" sz="3600" b="1" dirty="0"/>
              <a:t>3</a:t>
            </a:r>
            <a:r>
              <a:rPr lang="zh-CN" altLang="en-US" sz="3600" b="1" dirty="0"/>
              <a:t>码的转换电路</a:t>
            </a:r>
            <a:endParaRPr lang="en-US" altLang="zh-CN" sz="3600" b="1" dirty="0"/>
          </a:p>
        </p:txBody>
      </p:sp>
      <p:sp>
        <p:nvSpPr>
          <p:cNvPr id="4099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4213" y="1428750"/>
            <a:ext cx="7959725" cy="4943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实验任务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Quartus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II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设计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8421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码到余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码的转换电路，并下载到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中测试。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主要步骤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Quartus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II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中选用基本门电路器件，设计一个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8421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码到余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码的转换电路逻辑图 （具体设计过程，请参照理论课教材）。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使用模拟工具进行模拟验证，并通过验证。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IO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引脚功能。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4.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将设计的逻辑电路下载到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5.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用开关和发光二极管测试下载到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中的逻辑电路功能。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参考资料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 《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数字逻辑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》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理论课教材。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2.《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数字逻辑实验指导书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》 p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-11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实验三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组合逻辑电路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285750" y="338138"/>
            <a:ext cx="7772400" cy="661987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/>
              <a:t>2.</a:t>
            </a:r>
            <a:r>
              <a:rPr lang="zh-CN" altLang="en-US" sz="3600" b="1" dirty="0"/>
              <a:t>设计</a:t>
            </a:r>
            <a:r>
              <a:rPr lang="en-US" altLang="zh-CN" sz="3600" b="1" dirty="0"/>
              <a:t>2421</a:t>
            </a:r>
            <a:r>
              <a:rPr lang="zh-CN" altLang="en-US" sz="3600" b="1" dirty="0"/>
              <a:t>码到</a:t>
            </a:r>
            <a:r>
              <a:rPr lang="en-US" altLang="zh-CN" sz="3600" b="1" dirty="0"/>
              <a:t>gray</a:t>
            </a:r>
            <a:r>
              <a:rPr lang="zh-CN" altLang="en-US" sz="3600" b="1" dirty="0"/>
              <a:t>码的转换电路</a:t>
            </a:r>
            <a:endParaRPr lang="zh-CN" altLang="en-US" sz="3600" b="1" dirty="0"/>
          </a:p>
        </p:txBody>
      </p:sp>
      <p:sp>
        <p:nvSpPr>
          <p:cNvPr id="5123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357188" y="1143000"/>
            <a:ext cx="8429625" cy="5429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实验任务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60045" marR="0" lvl="1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Quartus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设计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2421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gray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码的转换电路，并下载到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中测试。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主要步骤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Quartus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中选用基本门电路器件，设计一个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2421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gray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码的转换电路逻辑图。 （具体设计过程，请参照理论课教材）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使用模拟工具进行模拟验证，并通过验证。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3.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IO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引脚功能。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4.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下载设计的电路到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5.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用开关和发光二极管测试下载到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FPGA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中的电路功能。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参考资料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 《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数字逻辑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》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理论课教材。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2.《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数字逻辑实验指导书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》 p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-11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组合逻辑电路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285875" y="1785938"/>
            <a:ext cx="6643688" cy="428625"/>
          </a:xfrm>
          <a:ln/>
        </p:spPr>
        <p:txBody>
          <a:bodyPr vert="horz" wrap="square" lIns="91440" tIns="45720" rIns="91440" bIns="45720" anchor="b" anchorCtr="0"/>
          <a:p>
            <a:pPr algn="ctr"/>
            <a:r>
              <a:rPr lang="en-US" altLang="zh-CN" sz="2400" b="1" dirty="0">
                <a:solidFill>
                  <a:srgbClr val="000000"/>
                </a:solidFill>
              </a:rPr>
              <a:t>2421</a:t>
            </a:r>
            <a:r>
              <a:rPr lang="zh-CN" altLang="en-US" sz="2400" b="1" dirty="0">
                <a:solidFill>
                  <a:srgbClr val="000000"/>
                </a:solidFill>
              </a:rPr>
              <a:t>码</a:t>
            </a:r>
            <a:r>
              <a:rPr lang="en-US" altLang="zh-CN" sz="2400" b="1" dirty="0">
                <a:solidFill>
                  <a:srgbClr val="000000"/>
                </a:solidFill>
              </a:rPr>
              <a:t>-gray</a:t>
            </a:r>
            <a:r>
              <a:rPr lang="zh-CN" altLang="en-US" sz="2400" b="1" dirty="0">
                <a:solidFill>
                  <a:srgbClr val="000000"/>
                </a:solidFill>
              </a:rPr>
              <a:t>码的转换电路真值表</a:t>
            </a:r>
            <a:endParaRPr lang="zh-CN" altLang="en-US" sz="2400" dirty="0">
              <a:solidFill>
                <a:srgbClr val="000000"/>
              </a:solidFill>
              <a:latin typeface="方正姚体" pitchFamily="2" charset="-122"/>
              <a:ea typeface="方正姚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14375" y="2286000"/>
          <a:ext cx="7643813" cy="405447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55477"/>
                <a:gridCol w="955477"/>
                <a:gridCol w="955477"/>
                <a:gridCol w="955477"/>
                <a:gridCol w="955477"/>
                <a:gridCol w="955477"/>
                <a:gridCol w="955477"/>
                <a:gridCol w="955477"/>
              </a:tblGrid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A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B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C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</a:t>
                      </a:r>
                      <a:endParaRPr lang="zh-CN" alt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G3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G2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G1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/>
                        <a:t>G0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963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  <a:tr h="3658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00000"/>
                        </a:solidFill>
                      </a:endParaRPr>
                    </a:p>
                  </a:txBody>
                  <a:tcPr marL="91439" marR="91439" marT="45727" marB="45727"/>
                </a:tc>
              </a:tr>
            </a:tbl>
          </a:graphicData>
        </a:graphic>
      </p:graphicFrame>
      <p:cxnSp>
        <p:nvCxnSpPr>
          <p:cNvPr id="9311" name="直接连接符 11"/>
          <p:cNvCxnSpPr/>
          <p:nvPr/>
        </p:nvCxnSpPr>
        <p:spPr>
          <a:xfrm rot="5400000">
            <a:off x="2535238" y="4321175"/>
            <a:ext cx="4071937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2" name="矩形 12"/>
          <p:cNvSpPr/>
          <p:nvPr/>
        </p:nvSpPr>
        <p:spPr>
          <a:xfrm>
            <a:off x="714375" y="285750"/>
            <a:ext cx="77152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-4572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我们假设用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D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分别表示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2421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码的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个数位，而用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G3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G2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G1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和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G0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分别表示</a:t>
            </a:r>
            <a:r>
              <a:rPr lang="en-US" altLang="zh-CN" sz="2400" b="1" dirty="0">
                <a:solidFill>
                  <a:srgbClr val="000000"/>
                </a:solidFill>
              </a:rPr>
              <a:t>gray</a:t>
            </a:r>
            <a:r>
              <a:rPr lang="zh-CN" altLang="en-US" sz="2400" b="1" dirty="0">
                <a:solidFill>
                  <a:srgbClr val="000000"/>
                </a:solidFill>
              </a:rPr>
              <a:t>码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的</a:t>
            </a:r>
            <a:r>
              <a:rPr lang="en-US" altLang="zh-CN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个数位。那么，该代码转换电路的逻辑功能可用下列真值表来表示。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611188" y="404813"/>
            <a:ext cx="7772400" cy="75565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下次课的预习-组合电路（三）</a:t>
            </a:r>
            <a:endParaRPr lang="zh-CN" altLang="en-US" sz="4000" dirty="0"/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42938" y="1500188"/>
            <a:ext cx="7777162" cy="5113337"/>
          </a:xfrm>
          <a:ln/>
        </p:spPr>
        <p:txBody>
          <a:bodyPr vert="horz" wrap="square" lIns="91440" tIns="45720" rIns="91440" bIns="45720" anchor="t" anchorCtr="0"/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</a:rPr>
              <a:t>预习内容</a:t>
            </a:r>
            <a:endParaRPr lang="zh-CN" altLang="en-US" sz="2400" b="1" dirty="0">
              <a:solidFill>
                <a:srgbClr val="000000"/>
              </a:solidFill>
            </a:endParaRPr>
          </a:p>
          <a:p>
            <a:pPr marL="1168400" lvl="1" indent="-711200"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000000"/>
                </a:solidFill>
              </a:rPr>
              <a:t>多路选择器，译码器构成原理及功能。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1168400" lvl="1" indent="-711200"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Quartus II</a:t>
            </a:r>
            <a:r>
              <a:rPr lang="zh-CN" altLang="en-US" sz="2000" b="1" dirty="0">
                <a:solidFill>
                  <a:srgbClr val="000000"/>
                </a:solidFill>
              </a:rPr>
              <a:t>的操作步骤（波形仿真、引脚锁定和下载等）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1168400" lvl="1" indent="-711200" eaLnBrk="1" hangingPunct="1">
              <a:lnSpc>
                <a:spcPct val="120000"/>
              </a:lnSpc>
            </a:pPr>
            <a:endParaRPr lang="zh-CN" altLang="en-US" sz="2000" b="1" dirty="0">
              <a:solidFill>
                <a:srgbClr val="000000"/>
              </a:solidFill>
            </a:endParaRPr>
          </a:p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000" b="1" dirty="0">
                <a:solidFill>
                  <a:srgbClr val="000000"/>
                </a:solidFill>
              </a:rPr>
              <a:t>参考资料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812800" indent="-812800" eaLnBrk="1" hangingPunct="1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      1. 《</a:t>
            </a:r>
            <a:r>
              <a:rPr lang="zh-CN" altLang="en-US" sz="2000" b="1" dirty="0">
                <a:solidFill>
                  <a:srgbClr val="000000"/>
                </a:solidFill>
              </a:rPr>
              <a:t>数字逻辑</a:t>
            </a:r>
            <a:r>
              <a:rPr lang="en-US" altLang="zh-CN" sz="2000" b="1" dirty="0">
                <a:solidFill>
                  <a:srgbClr val="000000"/>
                </a:solidFill>
              </a:rPr>
              <a:t>》</a:t>
            </a:r>
            <a:r>
              <a:rPr lang="zh-CN" altLang="en-US" sz="2000" b="1" dirty="0">
                <a:solidFill>
                  <a:srgbClr val="000000"/>
                </a:solidFill>
              </a:rPr>
              <a:t>理论课教材。</a:t>
            </a:r>
            <a:endParaRPr lang="zh-CN" altLang="en-US" sz="2000" b="1" dirty="0">
              <a:solidFill>
                <a:srgbClr val="000000"/>
              </a:solidFill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2.《</a:t>
            </a:r>
            <a:r>
              <a:rPr lang="zh-CN" altLang="en-US" sz="2000" b="1" dirty="0">
                <a:solidFill>
                  <a:srgbClr val="000000"/>
                </a:solidFill>
              </a:rPr>
              <a:t>数字逻辑实验指导书</a:t>
            </a:r>
            <a:r>
              <a:rPr lang="en-US" altLang="zh-CN" sz="2000" b="1" dirty="0">
                <a:solidFill>
                  <a:srgbClr val="000000"/>
                </a:solidFill>
              </a:rPr>
              <a:t>》 p.</a:t>
            </a:r>
            <a:r>
              <a:rPr lang="zh-CN" altLang="en-US" sz="2000" b="1" dirty="0">
                <a:solidFill>
                  <a:srgbClr val="000000"/>
                </a:solidFill>
              </a:rPr>
              <a:t>实验</a:t>
            </a:r>
            <a:r>
              <a:rPr lang="en-US" altLang="zh-CN" sz="2000" b="1" dirty="0">
                <a:solidFill>
                  <a:srgbClr val="000000"/>
                </a:solidFill>
              </a:rPr>
              <a:t>-25</a:t>
            </a:r>
            <a:r>
              <a:rPr lang="zh-CN" altLang="en-US" sz="2000" b="1" dirty="0">
                <a:solidFill>
                  <a:srgbClr val="000000"/>
                </a:solidFill>
              </a:rPr>
              <a:t>，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zh-CN" sz="1800" b="1" dirty="0">
                <a:solidFill>
                  <a:srgbClr val="000000"/>
                </a:solidFill>
              </a:rPr>
              <a:t>实验五</a:t>
            </a:r>
            <a:r>
              <a:rPr lang="en-US" altLang="zh-CN" sz="1800" b="1" dirty="0">
                <a:solidFill>
                  <a:srgbClr val="000000"/>
                </a:solidFill>
              </a:rPr>
              <a:t>  </a:t>
            </a:r>
            <a:r>
              <a:rPr lang="zh-CN" altLang="zh-CN" sz="1800" b="1" dirty="0">
                <a:solidFill>
                  <a:srgbClr val="000000"/>
                </a:solidFill>
              </a:rPr>
              <a:t>编码器、译码器、数据选择器和数值比较器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思考题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已知逻辑函数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利用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Quartus II</a:t>
            </a: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设计出其逻辑电路。判别该逻辑电路是否存在冒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168400" lvl="1" indent="-711200" eaLnBrk="1" hangingPunct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险？若存在，则改进逻辑电路消除冒险。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44" name="对象 8"/>
          <p:cNvGraphicFramePr>
            <a:graphicFrameLocks noChangeAspect="1"/>
          </p:cNvGraphicFramePr>
          <p:nvPr/>
        </p:nvGraphicFramePr>
        <p:xfrm>
          <a:off x="2771775" y="5410200"/>
          <a:ext cx="32559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81200" imgH="215900" progId="Equation.3">
                  <p:embed/>
                </p:oleObj>
              </mc:Choice>
              <mc:Fallback>
                <p:oleObj name="" r:id="rId1" imgW="19812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5410200"/>
                        <a:ext cx="3255963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12"/>
          <p:cNvSpPr/>
          <p:nvPr/>
        </p:nvSpPr>
        <p:spPr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600" dirty="0"/>
              <a:t> </a:t>
            </a:r>
            <a:endParaRPr lang="en-US" altLang="zh-CN" sz="2400" dirty="0"/>
          </a:p>
        </p:txBody>
      </p:sp>
      <p:pic>
        <p:nvPicPr>
          <p:cNvPr id="1024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" y="5441950"/>
            <a:ext cx="7677150" cy="107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7" name="矩形 2"/>
          <p:cNvSpPr/>
          <p:nvPr/>
        </p:nvSpPr>
        <p:spPr>
          <a:xfrm>
            <a:off x="1187450" y="5589588"/>
            <a:ext cx="144463" cy="2873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/>
          </a:p>
        </p:txBody>
      </p:sp>
      <p:pic>
        <p:nvPicPr>
          <p:cNvPr id="10248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0" y="5441950"/>
            <a:ext cx="314325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1004</Words>
  <Application>WPS 演示</Application>
  <PresentationFormat>全屏显示(4:3)</PresentationFormat>
  <Paragraphs>232</Paragraphs>
  <Slides>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Tahoma</vt:lpstr>
      <vt:lpstr>Times New Roman</vt:lpstr>
      <vt:lpstr>方正姚体</vt:lpstr>
      <vt:lpstr>微软雅黑</vt:lpstr>
      <vt:lpstr>Arial Unicode MS</vt:lpstr>
      <vt:lpstr>方正姚体_GBK</vt:lpstr>
      <vt:lpstr>Blueprint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不熬夜不熬夜不熬夜</cp:lastModifiedBy>
  <cp:revision>86</cp:revision>
  <dcterms:created xsi:type="dcterms:W3CDTF">2025-12-08T09:52:51Z</dcterms:created>
  <dcterms:modified xsi:type="dcterms:W3CDTF">2025-12-08T11:40:54Z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CDCC8D6B3062443DB9E6042EFF5B0AD2_12</vt:lpwstr>
  </property>
  <property fmtid="{D5CDD505-2E9C-101B-9397-08002B2CF9AE}" pid="3" name="KSOProductBuildVer">
    <vt:lpwstr>2052-12.1.0.23542</vt:lpwstr>
  </property>
</Properties>
</file>